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360" r:id="rId2"/>
    <p:sldId id="361" r:id="rId3"/>
    <p:sldId id="362" r:id="rId4"/>
    <p:sldId id="363" r:id="rId5"/>
    <p:sldId id="364" r:id="rId6"/>
    <p:sldId id="365" r:id="rId7"/>
    <p:sldId id="366" r:id="rId8"/>
    <p:sldId id="367" r:id="rId9"/>
    <p:sldId id="36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035AB9-376E-4527-9D0E-58178D5D75D1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E357D4-6949-4B05-BBF1-7FAE12D9F4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110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F72E3-7C63-4FDF-B16D-7957B0915A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9A6A90-9BA9-4308-B754-CD45398651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AEEC80-277B-4DDF-B92F-6CE2000B2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5C1F3-C5DF-4755-99DA-D23072409346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14FF0-DDC3-4468-8717-BDBD38BDA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0B87D0-E126-4AF3-9617-EF0483D99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6DD88-0C86-4509-89F9-73476229E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829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77BC1-22FA-41F2-B604-2B9D67D39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FF486-3FC6-40B9-AC62-895E27DFE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EF88AE-3B1E-4656-834E-A927843B9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5C1F3-C5DF-4755-99DA-D23072409346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CFFDA0-1429-4E7C-923E-382FA4063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FCE8B-7E4D-47CD-A31D-D5653887B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6DD88-0C86-4509-89F9-73476229E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337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A549A-D6EE-4F96-88BA-73D1DC58A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9D0301-0D3E-44EC-8F42-641C61998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7C3A92-A79A-4752-B318-0734020F1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5C1F3-C5DF-4755-99DA-D23072409346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D33A33-3F35-40BE-8F39-07ED81F3D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776575-FE50-4F20-A7C0-3ECB399F6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6DD88-0C86-4509-89F9-73476229E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401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EF2FC-6F68-4F30-8DCE-9B4660723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622E61-510C-4AD0-BB0B-FA6D6D7518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F3C6AB-F8F4-4177-97C5-C5E69ECA06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B28009-F4B7-4B67-BA1D-3994E9276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5C1F3-C5DF-4755-99DA-D23072409346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A70B92-E6F0-4D27-8BB3-9E462F455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21A299-2E8D-492F-AE39-7F2CA4EAB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6DD88-0C86-4509-89F9-73476229E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033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4C6B5-F788-45E9-971B-B1EB407FB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1B633A-13C6-4548-8AE9-0DD3A4714D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BFFB35-49CA-404D-875A-D554C3B568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F4F1FA-4867-499B-AA08-21E4764AB8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F52191-BCCB-4114-93FE-A3C5693CCE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CBB378-2055-4871-BC1D-B59C71647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5C1F3-C5DF-4755-99DA-D23072409346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3B4352-9766-4427-88F7-E4F63FAE6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5355C8-DFA7-43E4-84CF-386747E30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6DD88-0C86-4509-89F9-73476229E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715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A93ED-E15B-459A-B57C-1F5B620DA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8DD464-143B-4C01-A36B-4C36A9BBE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5C1F3-C5DF-4755-99DA-D23072409346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BB8E3D-B627-4E29-8092-45A209A29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9BEAE5-4065-4E42-8392-5D13EB24B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6DD88-0C86-4509-89F9-73476229E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714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85D124-3ACB-4C81-AE82-5C6032DF0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5C1F3-C5DF-4755-99DA-D23072409346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739022-17BE-4C5D-9598-669FD6598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A99557-64A0-4EA9-A0B1-21F2078F9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6DD88-0C86-4509-89F9-73476229E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40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2FAAA-2DA4-4DDD-87D8-8E0A2FF92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12C16-6C99-4B9F-ABEE-5B9E4C5CA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05F93F-0644-424E-945C-ED3A82AE4C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635FE1-9334-449F-B4B7-B0865E0D1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5C1F3-C5DF-4755-99DA-D23072409346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79E383-735E-4A31-B898-34B4E77E8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A5218C-B9D9-4180-9ECA-4606ED1ED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6DD88-0C86-4509-89F9-73476229E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288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ADDB7-D93D-4212-B37F-5BA0FC3CF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B7E8D4-3182-4E14-B9A4-32CAEB4266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950B2C-8DBA-456B-9351-67A96553D5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0C0A7-1A87-4754-8DC2-9589263DF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5C1F3-C5DF-4755-99DA-D23072409346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61D189-8F25-4F4B-84BE-69C4868BE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56B0D2-89C8-426A-AB92-275E21B02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6DD88-0C86-4509-89F9-73476229E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205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EFF23-9A58-4640-BDB4-295DE74C3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ACB983-B90F-4041-86D4-F682B64430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0682E-14B1-416A-BE6A-D51798882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5C1F3-C5DF-4755-99DA-D23072409346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068C92-17F0-4515-8436-A627F32D1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AC280-78B2-47C8-9B6B-B862CF86A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6DD88-0C86-4509-89F9-73476229E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976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EA9972-FB4A-4497-919B-BE8435AFF3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F605B9-08B3-42B0-9B02-4C9311F0AD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0537E-7770-4CB6-A35C-9F7E3935D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5C1F3-C5DF-4755-99DA-D23072409346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C177F-FCEE-4228-9A3F-4CCF26109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20A5E-69BB-481B-8E13-0B3CA6914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6DD88-0C86-4509-89F9-73476229E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973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3DAEA2-F0B6-425B-B482-634BA0D289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AB1685-2B65-4B30-9472-01E028DC62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05C1F3-C5DF-4755-99DA-D23072409346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EC74B-B14F-4EBE-B77C-40F2553478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BB7793-3353-4925-806E-70A10B6230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B6DD88-0C86-4509-89F9-73476229E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149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sherrost@yahoo.com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mailto:sherrost@yahoo.com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mailto:sherrost@yahoo.com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hyperlink" Target="mailto:sherrost@yahoo.com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mailto:sherrost@yahoo.com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hyperlink" Target="mailto:sherrost@yahoo.com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hyperlink" Target="mailto:sherrost@yahoo.com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mailto:sherrost@yahoo.com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hyperlink" Target="mailto:sherrost@yahoo.com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9ABCB786-0287-4882-B830-7D952506E7BA}"/>
              </a:ext>
            </a:extLst>
          </p:cNvPr>
          <p:cNvSpPr/>
          <p:nvPr/>
        </p:nvSpPr>
        <p:spPr>
          <a:xfrm>
            <a:off x="4516582" y="574082"/>
            <a:ext cx="3158836" cy="2983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noAutofit/>
          </a:bodyPr>
          <a:lstStyle/>
          <a:p>
            <a:pPr algn="ctr"/>
            <a:r>
              <a:rPr lang="en-US" sz="1400" b="1" i="1" dirty="0">
                <a:latin typeface="Times New Roman" panose="02020603050405020304" pitchFamily="18" charset="0"/>
              </a:rPr>
              <a:t>Structure Query Language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3E5233C-1AF1-466D-8D02-A65AA73B011F}"/>
              </a:ext>
            </a:extLst>
          </p:cNvPr>
          <p:cNvSpPr txBox="1"/>
          <p:nvPr/>
        </p:nvSpPr>
        <p:spPr>
          <a:xfrm>
            <a:off x="11286604" y="91488"/>
            <a:ext cx="8322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- 257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9BF74F0-D473-416A-8B62-D20D89DFA61E}"/>
              </a:ext>
            </a:extLst>
          </p:cNvPr>
          <p:cNvSpPr txBox="1"/>
          <p:nvPr/>
        </p:nvSpPr>
        <p:spPr>
          <a:xfrm>
            <a:off x="-22498" y="3948"/>
            <a:ext cx="22961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200" b="1" u="sng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>
                <a:solidFill>
                  <a:srgbClr val="002060"/>
                </a:solidFill>
              </a:rPr>
              <a:t>Tel: 01017776756 - 01501827070</a:t>
            </a:r>
          </a:p>
          <a:p>
            <a:r>
              <a:rPr lang="en-US" dirty="0">
                <a:solidFill>
                  <a:srgbClr val="002060"/>
                </a:solidFill>
              </a:rPr>
              <a:t>E-mail: </a:t>
            </a:r>
            <a:r>
              <a:rPr lang="en-US" dirty="0">
                <a:solidFill>
                  <a:srgbClr val="002060"/>
                </a:solidFill>
                <a:hlinkClick r:id="rId2"/>
              </a:rPr>
              <a:t>sherrost@yahoo.com</a:t>
            </a:r>
            <a:endParaRPr lang="en-US" dirty="0">
              <a:solidFill>
                <a:srgbClr val="002060"/>
              </a:solidFill>
            </a:endParaRPr>
          </a:p>
          <a:p>
            <a:r>
              <a:rPr lang="en-US" dirty="0"/>
              <a:t>section 8 – </a:t>
            </a:r>
            <a:r>
              <a:rPr lang="en-US" dirty="0">
                <a:solidFill>
                  <a:srgbClr val="FF0000"/>
                </a:solidFill>
              </a:rPr>
              <a:t>DBMS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96149" y="157836"/>
            <a:ext cx="4999703" cy="33855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spAutoFit/>
          </a:bodyPr>
          <a:lstStyle/>
          <a:p>
            <a:pPr algn="ctr"/>
            <a:r>
              <a:rPr lang="en-US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DATABASE MANAGEMENT SYSTEM (DBMS)</a:t>
            </a:r>
          </a:p>
        </p:txBody>
      </p:sp>
      <p:sp>
        <p:nvSpPr>
          <p:cNvPr id="2" name="Rectangle 1"/>
          <p:cNvSpPr/>
          <p:nvPr/>
        </p:nvSpPr>
        <p:spPr>
          <a:xfrm>
            <a:off x="2032820" y="950162"/>
            <a:ext cx="812636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programming language provided by a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DBMS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support all of the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associated with a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relational database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BCB786-0287-4882-B830-7D952506E7BA}"/>
              </a:ext>
            </a:extLst>
          </p:cNvPr>
          <p:cNvSpPr/>
          <p:nvPr/>
        </p:nvSpPr>
        <p:spPr>
          <a:xfrm>
            <a:off x="1177190" y="1721235"/>
            <a:ext cx="855630" cy="320654"/>
          </a:xfrm>
          <a:prstGeom prst="rect">
            <a:avLst/>
          </a:prstGeom>
          <a:solidFill>
            <a:schemeClr val="accent2"/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noAutofit/>
          </a:bodyPr>
          <a:lstStyle/>
          <a:p>
            <a:pPr algn="ctr"/>
            <a:r>
              <a:rPr lang="en-US" sz="1400" b="1" i="1" dirty="0">
                <a:latin typeface="Times New Roman" panose="02020603050405020304" pitchFamily="18" charset="0"/>
              </a:rPr>
              <a:t>DDL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BCB786-0287-4882-B830-7D952506E7BA}"/>
              </a:ext>
            </a:extLst>
          </p:cNvPr>
          <p:cNvSpPr/>
          <p:nvPr/>
        </p:nvSpPr>
        <p:spPr>
          <a:xfrm>
            <a:off x="10159181" y="1721235"/>
            <a:ext cx="855630" cy="320654"/>
          </a:xfrm>
          <a:prstGeom prst="rect">
            <a:avLst/>
          </a:prstGeom>
          <a:solidFill>
            <a:schemeClr val="accent2"/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noAutofit/>
          </a:bodyPr>
          <a:lstStyle/>
          <a:p>
            <a:pPr algn="ctr"/>
            <a:r>
              <a:rPr lang="en-US" sz="1400" b="1" i="1" dirty="0">
                <a:latin typeface="Times New Roman" panose="02020603050405020304" pitchFamily="18" charset="0"/>
              </a:rPr>
              <a:t>DML</a:t>
            </a:r>
          </a:p>
        </p:txBody>
      </p:sp>
      <p:cxnSp>
        <p:nvCxnSpPr>
          <p:cNvPr id="4" name="Elbow Connector 3"/>
          <p:cNvCxnSpPr>
            <a:stCxn id="2" idx="2"/>
            <a:endCxn id="7" idx="0"/>
          </p:cNvCxnSpPr>
          <p:nvPr/>
        </p:nvCxnSpPr>
        <p:spPr>
          <a:xfrm rot="5400000">
            <a:off x="3649633" y="-725134"/>
            <a:ext cx="401741" cy="4490996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/>
          <p:cNvCxnSpPr>
            <a:stCxn id="2" idx="2"/>
            <a:endCxn id="8" idx="0"/>
          </p:cNvCxnSpPr>
          <p:nvPr/>
        </p:nvCxnSpPr>
        <p:spPr>
          <a:xfrm rot="16200000" flipH="1">
            <a:off x="8140628" y="-725134"/>
            <a:ext cx="401741" cy="449099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9ABCB786-0287-4882-B830-7D952506E7BA}"/>
              </a:ext>
            </a:extLst>
          </p:cNvPr>
          <p:cNvSpPr/>
          <p:nvPr/>
        </p:nvSpPr>
        <p:spPr>
          <a:xfrm>
            <a:off x="4688613" y="2230122"/>
            <a:ext cx="2814774" cy="32065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noAutofit/>
          </a:bodyPr>
          <a:lstStyle/>
          <a:p>
            <a:pPr algn="ctr"/>
            <a:r>
              <a:rPr lang="en-US" sz="1400" b="1" i="1" dirty="0">
                <a:latin typeface="Times New Roman" panose="02020603050405020304" pitchFamily="18" charset="0"/>
              </a:rPr>
              <a:t>Data Definition Language (DDL)</a:t>
            </a:r>
          </a:p>
        </p:txBody>
      </p:sp>
      <p:sp>
        <p:nvSpPr>
          <p:cNvPr id="9" name="Rectangle 8"/>
          <p:cNvSpPr/>
          <p:nvPr/>
        </p:nvSpPr>
        <p:spPr>
          <a:xfrm>
            <a:off x="2930013" y="2644165"/>
            <a:ext cx="6331974" cy="41549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Definition Language </a:t>
            </a:r>
            <a:r>
              <a:rPr lang="en-US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2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DDL</a:t>
            </a:r>
            <a:r>
              <a:rPr lang="en-US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the part of </a:t>
            </a:r>
            <a:r>
              <a:rPr lang="en-US" sz="1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en-US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provided for </a:t>
            </a:r>
            <a:r>
              <a:rPr lang="en-US" sz="1400" b="1" i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</a:t>
            </a:r>
            <a:r>
              <a:rPr lang="en-US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1400" b="1" i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altering</a:t>
            </a:r>
            <a:r>
              <a:rPr lang="en-US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563" y="3153052"/>
            <a:ext cx="339458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commands only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not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put any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into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563" y="3916231"/>
            <a:ext cx="3437159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noAutofit/>
          </a:bodyPr>
          <a:lstStyle/>
          <a:p>
            <a:pPr algn="ctr"/>
            <a:r>
              <a:rPr lang="en-US" sz="1400" b="1" i="1" dirty="0">
                <a:latin typeface="Times New Roman" panose="02020603050405020304" pitchFamily="18" charset="0"/>
              </a:rPr>
              <a:t>general points regarding the writing of SQL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563" y="4576738"/>
            <a:ext cx="906042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consists of a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sequence of commands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command is terminated by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command can occupy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 than one line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case sensitivity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has been a decision made here to use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upper case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commands and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lower case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table names, attribute names and datatypes. 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command contains a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 of items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are separated by a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 this list is enclosed in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parentheses</a:t>
            </a:r>
          </a:p>
        </p:txBody>
      </p:sp>
    </p:spTree>
    <p:extLst>
      <p:ext uri="{BB962C8B-B14F-4D97-AF65-F5344CB8AC3E}">
        <p14:creationId xmlns:p14="http://schemas.microsoft.com/office/powerpoint/2010/main" val="1929472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33E5233C-1AF1-466D-8D02-A65AA73B011F}"/>
              </a:ext>
            </a:extLst>
          </p:cNvPr>
          <p:cNvSpPr txBox="1"/>
          <p:nvPr/>
        </p:nvSpPr>
        <p:spPr>
          <a:xfrm>
            <a:off x="11286604" y="91488"/>
            <a:ext cx="8322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- 258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9BF74F0-D473-416A-8B62-D20D89DFA61E}"/>
              </a:ext>
            </a:extLst>
          </p:cNvPr>
          <p:cNvSpPr txBox="1"/>
          <p:nvPr/>
        </p:nvSpPr>
        <p:spPr>
          <a:xfrm>
            <a:off x="-22498" y="3948"/>
            <a:ext cx="22961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200" b="1" u="sng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>
                <a:solidFill>
                  <a:srgbClr val="002060"/>
                </a:solidFill>
              </a:rPr>
              <a:t>Tel: 01017776756 - 01501827070</a:t>
            </a:r>
          </a:p>
          <a:p>
            <a:r>
              <a:rPr lang="en-US" dirty="0">
                <a:solidFill>
                  <a:srgbClr val="002060"/>
                </a:solidFill>
              </a:rPr>
              <a:t>E-mail: </a:t>
            </a:r>
            <a:r>
              <a:rPr lang="en-US" dirty="0">
                <a:solidFill>
                  <a:srgbClr val="002060"/>
                </a:solidFill>
                <a:hlinkClick r:id="rId2"/>
              </a:rPr>
              <a:t>sherrost@yahoo.com</a:t>
            </a:r>
            <a:endParaRPr lang="en-US" dirty="0">
              <a:solidFill>
                <a:srgbClr val="002060"/>
              </a:solidFill>
            </a:endParaRPr>
          </a:p>
          <a:p>
            <a:r>
              <a:rPr lang="en-US" dirty="0"/>
              <a:t>section 8 – </a:t>
            </a:r>
            <a:r>
              <a:rPr lang="en-US" dirty="0">
                <a:solidFill>
                  <a:srgbClr val="FF0000"/>
                </a:solidFill>
              </a:rPr>
              <a:t>DBMS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96149" y="157836"/>
            <a:ext cx="4999703" cy="33855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spAutoFit/>
          </a:bodyPr>
          <a:lstStyle/>
          <a:p>
            <a:pPr algn="ctr"/>
            <a:r>
              <a:rPr lang="en-US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DATABASE MANAGEMENT SYSTEM (DBMS)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5606" y="1534904"/>
            <a:ext cx="6564407" cy="120032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DATABASE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BandBooking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 Band (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BandName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varchar(25),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NumberOfMembers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integer);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ALTER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 Band ADD PRIMARY KEY (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BandName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ALTER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 Band-Booking ADD FOREIGN KEY (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BandName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REFERENCES Band(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BandName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BCB786-0287-4882-B830-7D952506E7BA}"/>
              </a:ext>
            </a:extLst>
          </p:cNvPr>
          <p:cNvSpPr/>
          <p:nvPr/>
        </p:nvSpPr>
        <p:spPr>
          <a:xfrm>
            <a:off x="175606" y="755284"/>
            <a:ext cx="2814774" cy="32065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noAutofit/>
          </a:bodyPr>
          <a:lstStyle/>
          <a:p>
            <a:pPr algn="ctr"/>
            <a:r>
              <a:rPr lang="en-US" sz="1400" b="1" i="1" dirty="0">
                <a:latin typeface="Times New Roman" panose="02020603050405020304" pitchFamily="18" charset="0"/>
              </a:rPr>
              <a:t>Data Definition Language (DDL)</a:t>
            </a:r>
          </a:p>
        </p:txBody>
      </p:sp>
      <p:sp>
        <p:nvSpPr>
          <p:cNvPr id="3" name="Rectangle 2"/>
          <p:cNvSpPr/>
          <p:nvPr/>
        </p:nvSpPr>
        <p:spPr>
          <a:xfrm>
            <a:off x="175606" y="3194200"/>
            <a:ext cx="604684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examples show that once the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been created, the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tables can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the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attributes defined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possible to define a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 key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a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foreign key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within the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 but the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ALTER TABLE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 can be used as shown (it can also be used to add extra attributes). 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an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attribute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defined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its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type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be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specified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with procedural languages there can be different data types or different names for data types depending on which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DBMS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being used. 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feature common to all databases is that the number of characters allowed for an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attribute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defined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including the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in brackets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above example </a:t>
            </a:r>
            <a:r>
              <a:rPr lang="en-US" sz="1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BandName</a:t>
            </a:r>
            <a:r>
              <a:rPr lang="en-US" sz="1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varchar(25)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 to 25 characters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band name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026" name="Picture 2" descr="SQL ddl | Data Definition Language in SQL - sql - sql tutorial - learn sql  - By Microsoft Awarded MVP - Learn in 30sec | wikitech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7391" y="2135068"/>
            <a:ext cx="5141492" cy="3454440"/>
          </a:xfrm>
          <a:prstGeom prst="rect">
            <a:avLst/>
          </a:prstGeom>
          <a:noFill/>
          <a:ln w="28575">
            <a:solidFill>
              <a:srgbClr val="00206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4154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33E5233C-1AF1-466D-8D02-A65AA73B011F}"/>
              </a:ext>
            </a:extLst>
          </p:cNvPr>
          <p:cNvSpPr txBox="1"/>
          <p:nvPr/>
        </p:nvSpPr>
        <p:spPr>
          <a:xfrm>
            <a:off x="11286604" y="91488"/>
            <a:ext cx="8322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- 259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9BF74F0-D473-416A-8B62-D20D89DFA61E}"/>
              </a:ext>
            </a:extLst>
          </p:cNvPr>
          <p:cNvSpPr txBox="1"/>
          <p:nvPr/>
        </p:nvSpPr>
        <p:spPr>
          <a:xfrm>
            <a:off x="-22498" y="3948"/>
            <a:ext cx="22961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200" b="1" u="sng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>
                <a:solidFill>
                  <a:srgbClr val="002060"/>
                </a:solidFill>
              </a:rPr>
              <a:t>Tel: 01017776756 - 01501827070</a:t>
            </a:r>
          </a:p>
          <a:p>
            <a:r>
              <a:rPr lang="en-US" dirty="0">
                <a:solidFill>
                  <a:srgbClr val="002060"/>
                </a:solidFill>
              </a:rPr>
              <a:t>E-mail: </a:t>
            </a:r>
            <a:r>
              <a:rPr lang="en-US" dirty="0">
                <a:solidFill>
                  <a:srgbClr val="002060"/>
                </a:solidFill>
                <a:hlinkClick r:id="rId2"/>
              </a:rPr>
              <a:t>sherrost@yahoo.com</a:t>
            </a:r>
            <a:endParaRPr lang="en-US" dirty="0">
              <a:solidFill>
                <a:srgbClr val="002060"/>
              </a:solidFill>
            </a:endParaRPr>
          </a:p>
          <a:p>
            <a:r>
              <a:rPr lang="en-US" dirty="0"/>
              <a:t>section 8 – </a:t>
            </a:r>
            <a:r>
              <a:rPr lang="en-US" dirty="0">
                <a:solidFill>
                  <a:srgbClr val="FF0000"/>
                </a:solidFill>
              </a:rPr>
              <a:t>DBMS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96149" y="157836"/>
            <a:ext cx="4999703" cy="33855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spAutoFit/>
          </a:bodyPr>
          <a:lstStyle/>
          <a:p>
            <a:pPr algn="ctr"/>
            <a:r>
              <a:rPr lang="en-US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DATABASE MANAGEMENT SYSTEM (DBMS)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BCB786-0287-4882-B830-7D952506E7BA}"/>
              </a:ext>
            </a:extLst>
          </p:cNvPr>
          <p:cNvSpPr/>
          <p:nvPr/>
        </p:nvSpPr>
        <p:spPr>
          <a:xfrm>
            <a:off x="175606" y="755284"/>
            <a:ext cx="2980549" cy="29185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noAutofit/>
          </a:bodyPr>
          <a:lstStyle/>
          <a:p>
            <a:pPr algn="ctr"/>
            <a:r>
              <a:rPr lang="en-US" sz="1400" b="1" i="1" dirty="0">
                <a:latin typeface="Times New Roman" panose="02020603050405020304" pitchFamily="18" charset="0"/>
              </a:rPr>
              <a:t>Data Manipulation Language (DML)</a:t>
            </a:r>
          </a:p>
        </p:txBody>
      </p:sp>
      <p:sp>
        <p:nvSpPr>
          <p:cNvPr id="2" name="Rectangle 1"/>
          <p:cNvSpPr/>
          <p:nvPr/>
        </p:nvSpPr>
        <p:spPr>
          <a:xfrm>
            <a:off x="175606" y="1667968"/>
            <a:ext cx="442943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insertion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data into the tables when the database is created 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modification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removal of data in the database 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reading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data stored in the database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175606" y="1188492"/>
            <a:ext cx="5801032" cy="338119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noAutofit/>
          </a:bodyPr>
          <a:lstStyle/>
          <a:p>
            <a:r>
              <a:rPr lang="en-US" sz="1400" b="1" i="1" dirty="0">
                <a:latin typeface="Times New Roman" panose="02020603050405020304" pitchFamily="18" charset="0"/>
              </a:rPr>
              <a:t>There are three categories of use for Data Manipulation Language (DML) </a:t>
            </a:r>
          </a:p>
        </p:txBody>
      </p:sp>
      <p:sp>
        <p:nvSpPr>
          <p:cNvPr id="3" name="Rectangle 2"/>
          <p:cNvSpPr/>
          <p:nvPr/>
        </p:nvSpPr>
        <p:spPr>
          <a:xfrm>
            <a:off x="175606" y="2732655"/>
            <a:ext cx="657778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illustrate the two possible ways that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written to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populate a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5" name="Rectangle 4"/>
          <p:cNvSpPr/>
          <p:nvPr/>
        </p:nvSpPr>
        <p:spPr>
          <a:xfrm>
            <a:off x="175606" y="3243344"/>
            <a:ext cx="3703220" cy="9233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 INTO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Band (‘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ComputerKidz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’, 5);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 INTO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Band-Booking (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BandName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BookingID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(‘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ComputerKidz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’, ‘2016/023’);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606" y="4308031"/>
            <a:ext cx="651033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example shows a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simpler version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can be used if the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 of the attributes is known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second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the safer method; the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attributes are defined </a:t>
            </a:r>
            <a:r>
              <a:rPr lang="en-US" sz="1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sz="1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values are listed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7" name="Rectangle 6"/>
          <p:cNvSpPr/>
          <p:nvPr/>
        </p:nvSpPr>
        <p:spPr>
          <a:xfrm>
            <a:off x="175606" y="5095719"/>
            <a:ext cx="2375971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noAutofit/>
          </a:bodyPr>
          <a:lstStyle/>
          <a:p>
            <a:r>
              <a:rPr lang="en-US" sz="1400" b="1" i="1" dirty="0">
                <a:latin typeface="Times New Roman" panose="02020603050405020304" pitchFamily="18" charset="0"/>
              </a:rPr>
              <a:t>There are some points to note</a:t>
            </a:r>
          </a:p>
        </p:txBody>
      </p:sp>
      <p:sp>
        <p:nvSpPr>
          <p:cNvPr id="8" name="Rectangle 7"/>
          <p:cNvSpPr/>
          <p:nvPr/>
        </p:nvSpPr>
        <p:spPr>
          <a:xfrm>
            <a:off x="175606" y="5544852"/>
            <a:ext cx="917978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Parentheses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used in both versions. 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separate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command has to be used for each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tuple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an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 defined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attributes. 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Although the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will have a list of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commands the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subsequent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of the table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 no concept of the tuples being ordered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026" name="Picture 2" descr="SQL | DDL, DML, TCL and DCL - GeeksforGeek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8849" y="2171327"/>
            <a:ext cx="5453090" cy="3067364"/>
          </a:xfrm>
          <a:prstGeom prst="rect">
            <a:avLst/>
          </a:prstGeom>
          <a:noFill/>
          <a:ln w="28575">
            <a:solidFill>
              <a:srgbClr val="00206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7562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33E5233C-1AF1-466D-8D02-A65AA73B011F}"/>
              </a:ext>
            </a:extLst>
          </p:cNvPr>
          <p:cNvSpPr txBox="1"/>
          <p:nvPr/>
        </p:nvSpPr>
        <p:spPr>
          <a:xfrm>
            <a:off x="11286604" y="91488"/>
            <a:ext cx="8322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- 260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9BF74F0-D473-416A-8B62-D20D89DFA61E}"/>
              </a:ext>
            </a:extLst>
          </p:cNvPr>
          <p:cNvSpPr txBox="1"/>
          <p:nvPr/>
        </p:nvSpPr>
        <p:spPr>
          <a:xfrm>
            <a:off x="-22498" y="3948"/>
            <a:ext cx="22961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200" b="1" u="sng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>
                <a:solidFill>
                  <a:srgbClr val="002060"/>
                </a:solidFill>
              </a:rPr>
              <a:t>Tel: 01017776756 - 01501827070</a:t>
            </a:r>
          </a:p>
          <a:p>
            <a:r>
              <a:rPr lang="en-US" dirty="0">
                <a:solidFill>
                  <a:srgbClr val="002060"/>
                </a:solidFill>
              </a:rPr>
              <a:t>E-mail: </a:t>
            </a:r>
            <a:r>
              <a:rPr lang="en-US" dirty="0">
                <a:solidFill>
                  <a:srgbClr val="002060"/>
                </a:solidFill>
                <a:hlinkClick r:id="rId2"/>
              </a:rPr>
              <a:t>sherrost@yahoo.com</a:t>
            </a:r>
            <a:endParaRPr lang="en-US" dirty="0">
              <a:solidFill>
                <a:srgbClr val="002060"/>
              </a:solidFill>
            </a:endParaRPr>
          </a:p>
          <a:p>
            <a:r>
              <a:rPr lang="en-US" dirty="0"/>
              <a:t>section 8 – </a:t>
            </a:r>
            <a:r>
              <a:rPr lang="en-US" dirty="0">
                <a:solidFill>
                  <a:srgbClr val="FF0000"/>
                </a:solidFill>
              </a:rPr>
              <a:t>DBMS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96149" y="157836"/>
            <a:ext cx="4999703" cy="33855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spAutoFit/>
          </a:bodyPr>
          <a:lstStyle/>
          <a:p>
            <a:pPr algn="ctr"/>
            <a:r>
              <a:rPr lang="en-US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DATABASE MANAGEMENT SYSTEM (DBMS)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BCB786-0287-4882-B830-7D952506E7BA}"/>
              </a:ext>
            </a:extLst>
          </p:cNvPr>
          <p:cNvSpPr/>
          <p:nvPr/>
        </p:nvSpPr>
        <p:spPr>
          <a:xfrm>
            <a:off x="175606" y="755284"/>
            <a:ext cx="2980549" cy="29185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noAutofit/>
          </a:bodyPr>
          <a:lstStyle/>
          <a:p>
            <a:pPr algn="ctr"/>
            <a:r>
              <a:rPr lang="en-US" sz="1400" b="1" i="1" dirty="0">
                <a:latin typeface="Times New Roman" panose="02020603050405020304" pitchFamily="18" charset="0"/>
              </a:rPr>
              <a:t>Data Manipulation Language (DML)</a:t>
            </a:r>
          </a:p>
        </p:txBody>
      </p:sp>
      <p:sp>
        <p:nvSpPr>
          <p:cNvPr id="9" name="Rectangle 8"/>
          <p:cNvSpPr/>
          <p:nvPr/>
        </p:nvSpPr>
        <p:spPr>
          <a:xfrm>
            <a:off x="175606" y="1100877"/>
            <a:ext cx="470965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use of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DML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to obtain data from a database using a query. 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query always starts with the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command. 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examples are: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5606" y="2077949"/>
            <a:ext cx="1092426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simplest form for a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the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attributes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which values are to be listed as output identified after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the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name identified after FROM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5606" y="3624170"/>
            <a:ext cx="345710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Band table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has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attributes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list the values for both there are </a:t>
            </a:r>
            <a:r>
              <a:rPr lang="en-US" sz="1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options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5606" y="4324243"/>
            <a:ext cx="2905432" cy="6463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BandName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NumberOfMembers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Band;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5606" y="5024316"/>
            <a:ext cx="516195" cy="41549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2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sz="1400" dirty="0">
                <a:solidFill>
                  <a:schemeClr val="tx1"/>
                </a:solidFill>
              </a:rPr>
              <a:t>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5606" y="5493556"/>
            <a:ext cx="1852238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Band;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5606" y="5916631"/>
            <a:ext cx="665289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uses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*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indicate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attributes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in the first example the attributes are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separated by commas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parentheses are needed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2050" name="Picture 2" descr="TutorialScan.co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8503" y="2853294"/>
            <a:ext cx="4946222" cy="3709668"/>
          </a:xfrm>
          <a:prstGeom prst="rect">
            <a:avLst/>
          </a:prstGeom>
          <a:noFill/>
          <a:ln w="28575">
            <a:solidFill>
              <a:srgbClr val="00206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Rectangle 21"/>
          <p:cNvSpPr/>
          <p:nvPr/>
        </p:nvSpPr>
        <p:spPr>
          <a:xfrm>
            <a:off x="175606" y="2778022"/>
            <a:ext cx="2611089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BandName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Band;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5606" y="3201096"/>
            <a:ext cx="47453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the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query are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separated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spaces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135383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33E5233C-1AF1-466D-8D02-A65AA73B011F}"/>
              </a:ext>
            </a:extLst>
          </p:cNvPr>
          <p:cNvSpPr txBox="1"/>
          <p:nvPr/>
        </p:nvSpPr>
        <p:spPr>
          <a:xfrm>
            <a:off x="11286604" y="91488"/>
            <a:ext cx="8322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- 261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9BF74F0-D473-416A-8B62-D20D89DFA61E}"/>
              </a:ext>
            </a:extLst>
          </p:cNvPr>
          <p:cNvSpPr txBox="1"/>
          <p:nvPr/>
        </p:nvSpPr>
        <p:spPr>
          <a:xfrm>
            <a:off x="-22498" y="3948"/>
            <a:ext cx="22961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200" b="1" u="sng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>
                <a:solidFill>
                  <a:srgbClr val="002060"/>
                </a:solidFill>
              </a:rPr>
              <a:t>Tel: 01017776756 - 01501827070</a:t>
            </a:r>
          </a:p>
          <a:p>
            <a:r>
              <a:rPr lang="en-US" dirty="0">
                <a:solidFill>
                  <a:srgbClr val="002060"/>
                </a:solidFill>
              </a:rPr>
              <a:t>E-mail: </a:t>
            </a:r>
            <a:r>
              <a:rPr lang="en-US" dirty="0">
                <a:solidFill>
                  <a:srgbClr val="002060"/>
                </a:solidFill>
                <a:hlinkClick r:id="rId2"/>
              </a:rPr>
              <a:t>sherrost@yahoo.com</a:t>
            </a:r>
            <a:endParaRPr lang="en-US" dirty="0">
              <a:solidFill>
                <a:srgbClr val="002060"/>
              </a:solidFill>
            </a:endParaRPr>
          </a:p>
          <a:p>
            <a:r>
              <a:rPr lang="en-US" dirty="0"/>
              <a:t>section 8 – </a:t>
            </a:r>
            <a:r>
              <a:rPr lang="en-US" dirty="0">
                <a:solidFill>
                  <a:srgbClr val="FF0000"/>
                </a:solidFill>
              </a:rPr>
              <a:t>DBMS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96149" y="157836"/>
            <a:ext cx="4999703" cy="33855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spAutoFit/>
          </a:bodyPr>
          <a:lstStyle/>
          <a:p>
            <a:pPr algn="ctr"/>
            <a:r>
              <a:rPr lang="en-US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DATABASE MANAGEMENT SYSTEM (DBMS)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BCB786-0287-4882-B830-7D952506E7BA}"/>
              </a:ext>
            </a:extLst>
          </p:cNvPr>
          <p:cNvSpPr/>
          <p:nvPr/>
        </p:nvSpPr>
        <p:spPr>
          <a:xfrm>
            <a:off x="175606" y="755284"/>
            <a:ext cx="2980549" cy="29185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noAutofit/>
          </a:bodyPr>
          <a:lstStyle/>
          <a:p>
            <a:pPr algn="ctr"/>
            <a:r>
              <a:rPr lang="en-US" sz="1400" b="1" i="1" dirty="0">
                <a:latin typeface="Times New Roman" panose="02020603050405020304" pitchFamily="18" charset="0"/>
              </a:rPr>
              <a:t>Data Manipulation Language (DML)</a:t>
            </a:r>
          </a:p>
        </p:txBody>
      </p:sp>
      <p:sp>
        <p:nvSpPr>
          <p:cNvPr id="2" name="Rectangle 1"/>
          <p:cNvSpPr/>
          <p:nvPr/>
        </p:nvSpPr>
        <p:spPr>
          <a:xfrm>
            <a:off x="175606" y="1008488"/>
            <a:ext cx="80870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possible to include instructions in the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control the presentation of the output. 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uses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ensure that the output is sorted to show the data with the band names in alphabetical order.</a:t>
            </a:r>
          </a:p>
        </p:txBody>
      </p:sp>
      <p:sp>
        <p:nvSpPr>
          <p:cNvPr id="3" name="Rectangle 2"/>
          <p:cNvSpPr/>
          <p:nvPr/>
        </p:nvSpPr>
        <p:spPr>
          <a:xfrm>
            <a:off x="175606" y="1616172"/>
            <a:ext cx="2932470" cy="9233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BandName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NumberOfMembers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Band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BandName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4" name="Rectangle 3"/>
          <p:cNvSpPr/>
          <p:nvPr/>
        </p:nvSpPr>
        <p:spPr>
          <a:xfrm>
            <a:off x="175606" y="2500855"/>
            <a:ext cx="755609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query there is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question of duplicate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entries because </a:t>
            </a:r>
            <a:r>
              <a:rPr lang="en-US" sz="1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BandName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 key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BandName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in the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Band-Booking table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individual value for </a:t>
            </a:r>
            <a:r>
              <a:rPr lang="en-US" sz="1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BandName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will occur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many times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query were being used to find which bands already had a booking there would be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repeated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names in the output. 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can be prevented by the use of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BY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shown here:</a:t>
            </a:r>
          </a:p>
        </p:txBody>
      </p:sp>
      <p:sp>
        <p:nvSpPr>
          <p:cNvPr id="5" name="Rectangle 4"/>
          <p:cNvSpPr/>
          <p:nvPr/>
        </p:nvSpPr>
        <p:spPr>
          <a:xfrm>
            <a:off x="175606" y="3662537"/>
            <a:ext cx="1951703" cy="9233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BandName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Band-Booking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BY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BandName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606" y="4547220"/>
            <a:ext cx="7086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extension of the control of the output from a query is to include a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condition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limit the selected data. 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provided by a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clause. 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are examples:</a:t>
            </a:r>
          </a:p>
        </p:txBody>
      </p:sp>
      <p:sp>
        <p:nvSpPr>
          <p:cNvPr id="7" name="Rectangle 6"/>
          <p:cNvSpPr/>
          <p:nvPr/>
        </p:nvSpPr>
        <p:spPr>
          <a:xfrm>
            <a:off x="175606" y="5431901"/>
            <a:ext cx="1966452" cy="120032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BandName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Band-Booking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Headlining = ‘Y’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BY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BandName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pic>
        <p:nvPicPr>
          <p:cNvPr id="3074" name="Picture 2" descr="SQL SELECT Query | LaptrinhX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797"/>
          <a:stretch/>
        </p:blipFill>
        <p:spPr bwMode="auto">
          <a:xfrm>
            <a:off x="6931743" y="4006356"/>
            <a:ext cx="5010160" cy="2625874"/>
          </a:xfrm>
          <a:prstGeom prst="rect">
            <a:avLst/>
          </a:prstGeom>
          <a:noFill/>
          <a:ln w="28575">
            <a:solidFill>
              <a:srgbClr val="00206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2273643" y="6262898"/>
            <a:ext cx="44073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produces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single output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band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has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headlined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20000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33E5233C-1AF1-466D-8D02-A65AA73B011F}"/>
              </a:ext>
            </a:extLst>
          </p:cNvPr>
          <p:cNvSpPr txBox="1"/>
          <p:nvPr/>
        </p:nvSpPr>
        <p:spPr>
          <a:xfrm>
            <a:off x="11286604" y="91488"/>
            <a:ext cx="8322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- 262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9BF74F0-D473-416A-8B62-D20D89DFA61E}"/>
              </a:ext>
            </a:extLst>
          </p:cNvPr>
          <p:cNvSpPr txBox="1"/>
          <p:nvPr/>
        </p:nvSpPr>
        <p:spPr>
          <a:xfrm>
            <a:off x="-22498" y="3948"/>
            <a:ext cx="22961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200" b="1" u="sng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>
                <a:solidFill>
                  <a:srgbClr val="002060"/>
                </a:solidFill>
              </a:rPr>
              <a:t>Tel: 01017776756 - 01501827070</a:t>
            </a:r>
          </a:p>
          <a:p>
            <a:r>
              <a:rPr lang="en-US" dirty="0">
                <a:solidFill>
                  <a:srgbClr val="002060"/>
                </a:solidFill>
              </a:rPr>
              <a:t>E-mail: </a:t>
            </a:r>
            <a:r>
              <a:rPr lang="en-US" dirty="0">
                <a:solidFill>
                  <a:srgbClr val="002060"/>
                </a:solidFill>
                <a:hlinkClick r:id="rId2"/>
              </a:rPr>
              <a:t>sherrost@yahoo.com</a:t>
            </a:r>
            <a:endParaRPr lang="en-US" dirty="0">
              <a:solidFill>
                <a:srgbClr val="002060"/>
              </a:solidFill>
            </a:endParaRPr>
          </a:p>
          <a:p>
            <a:r>
              <a:rPr lang="en-US" dirty="0"/>
              <a:t>section 8 – </a:t>
            </a:r>
            <a:r>
              <a:rPr lang="en-US" dirty="0">
                <a:solidFill>
                  <a:srgbClr val="FF0000"/>
                </a:solidFill>
              </a:rPr>
              <a:t>DBMS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96149" y="157836"/>
            <a:ext cx="4999703" cy="33855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spAutoFit/>
          </a:bodyPr>
          <a:lstStyle/>
          <a:p>
            <a:pPr algn="ctr"/>
            <a:r>
              <a:rPr lang="en-US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DATABASE MANAGEMENT SYSTEM (DBMS)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BCB786-0287-4882-B830-7D952506E7BA}"/>
              </a:ext>
            </a:extLst>
          </p:cNvPr>
          <p:cNvSpPr/>
          <p:nvPr/>
        </p:nvSpPr>
        <p:spPr>
          <a:xfrm>
            <a:off x="175606" y="755284"/>
            <a:ext cx="2980549" cy="29185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noAutofit/>
          </a:bodyPr>
          <a:lstStyle/>
          <a:p>
            <a:pPr algn="ctr"/>
            <a:r>
              <a:rPr lang="en-US" sz="1400" b="1" i="1" dirty="0">
                <a:latin typeface="Times New Roman" panose="02020603050405020304" pitchFamily="18" charset="0"/>
              </a:rPr>
              <a:t>Data Manipulation Language (DML)</a:t>
            </a:r>
          </a:p>
        </p:txBody>
      </p:sp>
      <p:sp>
        <p:nvSpPr>
          <p:cNvPr id="9" name="Rectangle 8"/>
          <p:cNvSpPr/>
          <p:nvPr/>
        </p:nvSpPr>
        <p:spPr>
          <a:xfrm>
            <a:off x="175606" y="1212502"/>
            <a:ext cx="895227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possible to qualify the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statement by using a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AVG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examples of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work on data held in several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tuples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 particular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attribute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value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this reason, these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called </a:t>
            </a:r>
            <a:r>
              <a:rPr lang="en-US" sz="1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aggregate functions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an example, the following code displays the number of members in a band: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5606" y="2578198"/>
            <a:ext cx="1465006" cy="6463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Count(*)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Band;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5606" y="3389896"/>
            <a:ext cx="462184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a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special case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there is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need to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specify the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attribute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5606" y="3924595"/>
            <a:ext cx="33785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example using a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specific attribute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would be: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5606" y="4459294"/>
            <a:ext cx="2600632" cy="6463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AVG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NumberOfMembers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Band;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5606" y="5270992"/>
            <a:ext cx="516195" cy="41549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2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sz="1400" dirty="0">
                <a:solidFill>
                  <a:schemeClr val="tx1"/>
                </a:solidFill>
              </a:rPr>
              <a:t>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5606" y="5851859"/>
            <a:ext cx="2562521" cy="6463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SUM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NumberOfMembers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Band;</a:t>
            </a:r>
          </a:p>
        </p:txBody>
      </p:sp>
      <p:pic>
        <p:nvPicPr>
          <p:cNvPr id="4098" name="Picture 2" descr="SQL Aggregate Functions - Example, Definition, Syntax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0349" y="3574562"/>
            <a:ext cx="6651005" cy="2046463"/>
          </a:xfrm>
          <a:prstGeom prst="rect">
            <a:avLst/>
          </a:prstGeom>
          <a:noFill/>
          <a:ln w="28575">
            <a:solidFill>
              <a:srgbClr val="00206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7787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33E5233C-1AF1-466D-8D02-A65AA73B011F}"/>
              </a:ext>
            </a:extLst>
          </p:cNvPr>
          <p:cNvSpPr txBox="1"/>
          <p:nvPr/>
        </p:nvSpPr>
        <p:spPr>
          <a:xfrm>
            <a:off x="11286604" y="91488"/>
            <a:ext cx="8322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- 263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9BF74F0-D473-416A-8B62-D20D89DFA61E}"/>
              </a:ext>
            </a:extLst>
          </p:cNvPr>
          <p:cNvSpPr txBox="1"/>
          <p:nvPr/>
        </p:nvSpPr>
        <p:spPr>
          <a:xfrm>
            <a:off x="-22498" y="3948"/>
            <a:ext cx="22961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200" b="1" u="sng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>
                <a:solidFill>
                  <a:srgbClr val="002060"/>
                </a:solidFill>
              </a:rPr>
              <a:t>Tel: 01017776756 - 01501827070</a:t>
            </a:r>
          </a:p>
          <a:p>
            <a:r>
              <a:rPr lang="en-US" dirty="0">
                <a:solidFill>
                  <a:srgbClr val="002060"/>
                </a:solidFill>
              </a:rPr>
              <a:t>E-mail: </a:t>
            </a:r>
            <a:r>
              <a:rPr lang="en-US" dirty="0">
                <a:solidFill>
                  <a:srgbClr val="002060"/>
                </a:solidFill>
                <a:hlinkClick r:id="rId2"/>
              </a:rPr>
              <a:t>sherrost@yahoo.com</a:t>
            </a:r>
            <a:endParaRPr lang="en-US" dirty="0">
              <a:solidFill>
                <a:srgbClr val="002060"/>
              </a:solidFill>
            </a:endParaRPr>
          </a:p>
          <a:p>
            <a:r>
              <a:rPr lang="en-US" dirty="0"/>
              <a:t>section 8 – </a:t>
            </a:r>
            <a:r>
              <a:rPr lang="en-US" dirty="0">
                <a:solidFill>
                  <a:srgbClr val="FF0000"/>
                </a:solidFill>
              </a:rPr>
              <a:t>DBMS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96149" y="157836"/>
            <a:ext cx="4999703" cy="33855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spAutoFit/>
          </a:bodyPr>
          <a:lstStyle/>
          <a:p>
            <a:pPr algn="ctr"/>
            <a:r>
              <a:rPr lang="en-US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DATABASE MANAGEMENT SYSTEM (DBMS)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BCB786-0287-4882-B830-7D952506E7BA}"/>
              </a:ext>
            </a:extLst>
          </p:cNvPr>
          <p:cNvSpPr/>
          <p:nvPr/>
        </p:nvSpPr>
        <p:spPr>
          <a:xfrm>
            <a:off x="175606" y="755284"/>
            <a:ext cx="2980549" cy="29185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noAutofit/>
          </a:bodyPr>
          <a:lstStyle/>
          <a:p>
            <a:pPr algn="ctr"/>
            <a:r>
              <a:rPr lang="en-US" sz="1400" b="1" i="1" dirty="0">
                <a:latin typeface="Times New Roman" panose="02020603050405020304" pitchFamily="18" charset="0"/>
              </a:rPr>
              <a:t>Data Manipulation Language (DML)</a:t>
            </a:r>
          </a:p>
        </p:txBody>
      </p:sp>
      <p:sp>
        <p:nvSpPr>
          <p:cNvPr id="2" name="Rectangle 1"/>
          <p:cNvSpPr/>
          <p:nvPr/>
        </p:nvSpPr>
        <p:spPr>
          <a:xfrm>
            <a:off x="175606" y="1311343"/>
            <a:ext cx="468015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query can be based on a ‘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join condition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 between data in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tables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most frequently used is an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inner join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is illustrated by:</a:t>
            </a:r>
          </a:p>
        </p:txBody>
      </p:sp>
      <p:sp>
        <p:nvSpPr>
          <p:cNvPr id="3" name="Rectangle 2"/>
          <p:cNvSpPr/>
          <p:nvPr/>
        </p:nvSpPr>
        <p:spPr>
          <a:xfrm>
            <a:off x="175606" y="2221882"/>
            <a:ext cx="3972232" cy="120032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VenueName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Date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Booking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Band-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Booking.BookingID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Booking.BookingID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Band-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Booking.BandName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‘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ComputerKidz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’;</a:t>
            </a:r>
          </a:p>
        </p:txBody>
      </p:sp>
      <p:sp>
        <p:nvSpPr>
          <p:cNvPr id="4" name="Rectangle 3"/>
          <p:cNvSpPr/>
          <p:nvPr/>
        </p:nvSpPr>
        <p:spPr>
          <a:xfrm>
            <a:off x="175606" y="3686419"/>
            <a:ext cx="733132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the full definitive name for each attribute with the table name and attribute name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separated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a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contains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conditions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way that the query works is as follows.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75606" y="4873958"/>
            <a:ext cx="718492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Band-Booking table is searched for instances where the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BandName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ComputerKidz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instance the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BookingID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noted.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there is a search of the Booking table to find the examples of tuples having this value for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BookingID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one found the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VenueName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Date are presented in the output.</a:t>
            </a:r>
          </a:p>
        </p:txBody>
      </p:sp>
      <p:pic>
        <p:nvPicPr>
          <p:cNvPr id="6148" name="Picture 4" descr="SQL: Combining the AND and OR Condition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4742" y="2880817"/>
            <a:ext cx="4487258" cy="2524083"/>
          </a:xfrm>
          <a:prstGeom prst="rect">
            <a:avLst/>
          </a:prstGeom>
          <a:noFill/>
          <a:ln w="28575">
            <a:solidFill>
              <a:srgbClr val="00206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6406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33E5233C-1AF1-466D-8D02-A65AA73B011F}"/>
              </a:ext>
            </a:extLst>
          </p:cNvPr>
          <p:cNvSpPr txBox="1"/>
          <p:nvPr/>
        </p:nvSpPr>
        <p:spPr>
          <a:xfrm>
            <a:off x="11286604" y="91488"/>
            <a:ext cx="8322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- 264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9BF74F0-D473-416A-8B62-D20D89DFA61E}"/>
              </a:ext>
            </a:extLst>
          </p:cNvPr>
          <p:cNvSpPr txBox="1"/>
          <p:nvPr/>
        </p:nvSpPr>
        <p:spPr>
          <a:xfrm>
            <a:off x="-22498" y="3948"/>
            <a:ext cx="22961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200" b="1" u="sng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>
                <a:solidFill>
                  <a:srgbClr val="002060"/>
                </a:solidFill>
              </a:rPr>
              <a:t>Tel: 01017776756 - 01501827070</a:t>
            </a:r>
          </a:p>
          <a:p>
            <a:r>
              <a:rPr lang="en-US" dirty="0">
                <a:solidFill>
                  <a:srgbClr val="002060"/>
                </a:solidFill>
              </a:rPr>
              <a:t>E-mail: </a:t>
            </a:r>
            <a:r>
              <a:rPr lang="en-US" dirty="0">
                <a:solidFill>
                  <a:srgbClr val="002060"/>
                </a:solidFill>
                <a:hlinkClick r:id="rId2"/>
              </a:rPr>
              <a:t>sherrost@yahoo.com</a:t>
            </a:r>
            <a:endParaRPr lang="en-US" dirty="0">
              <a:solidFill>
                <a:srgbClr val="002060"/>
              </a:solidFill>
            </a:endParaRPr>
          </a:p>
          <a:p>
            <a:r>
              <a:rPr lang="en-US" dirty="0"/>
              <a:t>section 8 – </a:t>
            </a:r>
            <a:r>
              <a:rPr lang="en-US" dirty="0">
                <a:solidFill>
                  <a:srgbClr val="FF0000"/>
                </a:solidFill>
              </a:rPr>
              <a:t>DBMS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96149" y="157836"/>
            <a:ext cx="4999703" cy="33855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spAutoFit/>
          </a:bodyPr>
          <a:lstStyle/>
          <a:p>
            <a:pPr algn="ctr"/>
            <a:r>
              <a:rPr lang="en-US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DATABASE MANAGEMENT SYSTEM (DBMS)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BCB786-0287-4882-B830-7D952506E7BA}"/>
              </a:ext>
            </a:extLst>
          </p:cNvPr>
          <p:cNvSpPr/>
          <p:nvPr/>
        </p:nvSpPr>
        <p:spPr>
          <a:xfrm>
            <a:off x="175606" y="755284"/>
            <a:ext cx="2980549" cy="29185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noAutofit/>
          </a:bodyPr>
          <a:lstStyle/>
          <a:p>
            <a:pPr algn="ctr"/>
            <a:r>
              <a:rPr lang="en-US" sz="1400" b="1" i="1" dirty="0">
                <a:latin typeface="Times New Roman" panose="02020603050405020304" pitchFamily="18" charset="0"/>
              </a:rPr>
              <a:t>Data Manipulation Language (DML)</a:t>
            </a:r>
          </a:p>
        </p:txBody>
      </p:sp>
      <p:pic>
        <p:nvPicPr>
          <p:cNvPr id="10" name="Picture 2" descr="SQL Joins Infographic | Sql join, Sql, Learn computer coding"/>
          <p:cNvPicPr>
            <a:picLocks noChangeAspect="1" noChangeArrowheads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50"/>
          <a:stretch/>
        </p:blipFill>
        <p:spPr bwMode="auto">
          <a:xfrm>
            <a:off x="8595852" y="1047135"/>
            <a:ext cx="2381762" cy="2853501"/>
          </a:xfrm>
          <a:prstGeom prst="rect">
            <a:avLst/>
          </a:prstGeom>
          <a:noFill/>
          <a:ln w="28575">
            <a:solidFill>
              <a:srgbClr val="00206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175606" y="1309165"/>
            <a:ext cx="424507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versions of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 the explicit use of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INNER JOIN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is a possible generic syntax:</a:t>
            </a:r>
          </a:p>
        </p:txBody>
      </p:sp>
      <p:sp>
        <p:nvSpPr>
          <p:cNvPr id="7" name="Rectangle 6"/>
          <p:cNvSpPr/>
          <p:nvPr/>
        </p:nvSpPr>
        <p:spPr>
          <a:xfrm>
            <a:off x="175606" y="2217526"/>
            <a:ext cx="3566873" cy="120032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table1.column1, table2.column2...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table1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INNER JOIN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table2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table1.common _ field = table2.common _ field;</a:t>
            </a:r>
          </a:p>
        </p:txBody>
      </p:sp>
      <p:sp>
        <p:nvSpPr>
          <p:cNvPr id="8" name="Rectangle 7"/>
          <p:cNvSpPr/>
          <p:nvPr/>
        </p:nvSpPr>
        <p:spPr>
          <a:xfrm>
            <a:off x="175606" y="3679885"/>
            <a:ext cx="681444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other use of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DML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to </a:t>
            </a:r>
            <a:r>
              <a:rPr lang="en-US" sz="1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modify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data stored in the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command is used to change the data. 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band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ComputerKidz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recruited an extra member the following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would make the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needed.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175606" y="4865245"/>
            <a:ext cx="2895600" cy="9233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Band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NumberOfMembers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6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BandName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‘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ComputerKidz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5606" y="6050605"/>
            <a:ext cx="762405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 the use of the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clause. 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forgot to include this the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command would change the number of band members to 6 for all of the bands.</a:t>
            </a:r>
          </a:p>
        </p:txBody>
      </p:sp>
      <p:pic>
        <p:nvPicPr>
          <p:cNvPr id="5122" name="Picture 2" descr="SQL: Update | Beamtic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5852" y="4603215"/>
            <a:ext cx="2954605" cy="1546453"/>
          </a:xfrm>
          <a:prstGeom prst="rect">
            <a:avLst/>
          </a:prstGeom>
          <a:noFill/>
          <a:ln w="28575">
            <a:solidFill>
              <a:srgbClr val="00206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89386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33E5233C-1AF1-466D-8D02-A65AA73B011F}"/>
              </a:ext>
            </a:extLst>
          </p:cNvPr>
          <p:cNvSpPr txBox="1"/>
          <p:nvPr/>
        </p:nvSpPr>
        <p:spPr>
          <a:xfrm>
            <a:off x="11286604" y="91488"/>
            <a:ext cx="8322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- 265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9BF74F0-D473-416A-8B62-D20D89DFA61E}"/>
              </a:ext>
            </a:extLst>
          </p:cNvPr>
          <p:cNvSpPr txBox="1"/>
          <p:nvPr/>
        </p:nvSpPr>
        <p:spPr>
          <a:xfrm>
            <a:off x="-22498" y="3948"/>
            <a:ext cx="22961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200" b="1" u="sng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>
                <a:solidFill>
                  <a:srgbClr val="002060"/>
                </a:solidFill>
              </a:rPr>
              <a:t>Tel: 01017776756 - 01501827070</a:t>
            </a:r>
          </a:p>
          <a:p>
            <a:r>
              <a:rPr lang="en-US" dirty="0">
                <a:solidFill>
                  <a:srgbClr val="002060"/>
                </a:solidFill>
              </a:rPr>
              <a:t>E-mail: </a:t>
            </a:r>
            <a:r>
              <a:rPr lang="en-US" dirty="0">
                <a:solidFill>
                  <a:srgbClr val="002060"/>
                </a:solidFill>
                <a:hlinkClick r:id="rId2"/>
              </a:rPr>
              <a:t>sherrost@yahoo.com</a:t>
            </a:r>
            <a:endParaRPr lang="en-US" dirty="0">
              <a:solidFill>
                <a:srgbClr val="002060"/>
              </a:solidFill>
            </a:endParaRPr>
          </a:p>
          <a:p>
            <a:r>
              <a:rPr lang="en-US" dirty="0"/>
              <a:t>section 8 – </a:t>
            </a:r>
            <a:r>
              <a:rPr lang="en-US" dirty="0">
                <a:solidFill>
                  <a:srgbClr val="FF0000"/>
                </a:solidFill>
              </a:rPr>
              <a:t>DBMS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96149" y="157836"/>
            <a:ext cx="4999703" cy="33855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spAutoFit/>
          </a:bodyPr>
          <a:lstStyle/>
          <a:p>
            <a:pPr algn="ctr"/>
            <a:r>
              <a:rPr lang="en-US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DATABASE MANAGEMENT SYSTEM (DBMS)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BCB786-0287-4882-B830-7D952506E7BA}"/>
              </a:ext>
            </a:extLst>
          </p:cNvPr>
          <p:cNvSpPr/>
          <p:nvPr/>
        </p:nvSpPr>
        <p:spPr>
          <a:xfrm>
            <a:off x="175606" y="755284"/>
            <a:ext cx="2980549" cy="29185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noAutofit/>
          </a:bodyPr>
          <a:lstStyle/>
          <a:p>
            <a:pPr algn="ctr"/>
            <a:r>
              <a:rPr lang="en-US" sz="1400" b="1" i="1" dirty="0">
                <a:latin typeface="Times New Roman" panose="02020603050405020304" pitchFamily="18" charset="0"/>
              </a:rPr>
              <a:t>Data Manipulation Language (DML)</a:t>
            </a:r>
          </a:p>
        </p:txBody>
      </p:sp>
      <p:sp>
        <p:nvSpPr>
          <p:cNvPr id="2" name="Rectangle 1"/>
          <p:cNvSpPr/>
          <p:nvPr/>
        </p:nvSpPr>
        <p:spPr>
          <a:xfrm>
            <a:off x="175606" y="1270440"/>
            <a:ext cx="678917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DELETE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command is used to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from the database. 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has to be done with care. 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ITWizz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band decided to disband the following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would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name from the database.</a:t>
            </a:r>
          </a:p>
        </p:txBody>
      </p:sp>
      <p:sp>
        <p:nvSpPr>
          <p:cNvPr id="3" name="Rectangle 2"/>
          <p:cNvSpPr/>
          <p:nvPr/>
        </p:nvSpPr>
        <p:spPr>
          <a:xfrm>
            <a:off x="175606" y="2417075"/>
            <a:ext cx="2630129" cy="120032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DELETE FROM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Band-Booking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BandName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‘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ITWizz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’;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DELETE FROM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Band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BandName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‘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ITWizz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’;</a:t>
            </a:r>
          </a:p>
        </p:txBody>
      </p:sp>
      <p:sp>
        <p:nvSpPr>
          <p:cNvPr id="4" name="Rectangle 3"/>
          <p:cNvSpPr/>
          <p:nvPr/>
        </p:nvSpPr>
        <p:spPr>
          <a:xfrm>
            <a:off x="175606" y="3840710"/>
            <a:ext cx="644996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if an attempt was made to carry out the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deletion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Band first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would be an error. 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because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BandName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</a:t>
            </a:r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foreign key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Band-Booking. 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entry for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BandName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Band-Booking must have a corresponding value in Band.</a:t>
            </a:r>
          </a:p>
        </p:txBody>
      </p:sp>
      <p:pic>
        <p:nvPicPr>
          <p:cNvPr id="18" name="Picture 2" descr="How to Delete a Row in SQL – Example Query"/>
          <p:cNvPicPr>
            <a:picLocks noChangeAspect="1" noChangeArrowheads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585" r="17036" b="24841"/>
          <a:stretch>
            <a:fillRect/>
          </a:stretch>
        </p:blipFill>
        <p:spPr bwMode="auto">
          <a:xfrm>
            <a:off x="8595852" y="2035277"/>
            <a:ext cx="2298290" cy="1805433"/>
          </a:xfrm>
          <a:prstGeom prst="rect">
            <a:avLst/>
          </a:prstGeom>
          <a:noFill/>
          <a:ln w="28575">
            <a:solidFill>
              <a:srgbClr val="00206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4D9CBC7-A9B6-46E0-99F0-956ECBEFC036}"/>
              </a:ext>
            </a:extLst>
          </p:cNvPr>
          <p:cNvSpPr/>
          <p:nvPr/>
        </p:nvSpPr>
        <p:spPr>
          <a:xfrm>
            <a:off x="175606" y="6041648"/>
            <a:ext cx="2311274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OF SECTION 8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4D9CBC7-A9B6-46E0-99F0-956ECBEFC036}"/>
              </a:ext>
            </a:extLst>
          </p:cNvPr>
          <p:cNvSpPr/>
          <p:nvPr/>
        </p:nvSpPr>
        <p:spPr>
          <a:xfrm>
            <a:off x="9920479" y="6041648"/>
            <a:ext cx="2024850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OF PAPER 1</a:t>
            </a:r>
          </a:p>
        </p:txBody>
      </p:sp>
    </p:spTree>
    <p:extLst>
      <p:ext uri="{BB962C8B-B14F-4D97-AF65-F5344CB8AC3E}">
        <p14:creationId xmlns:p14="http://schemas.microsoft.com/office/powerpoint/2010/main" val="1172610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6774</TotalTime>
  <Words>1632</Words>
  <Application>Microsoft Office PowerPoint</Application>
  <PresentationFormat>Widescreen</PresentationFormat>
  <Paragraphs>181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Lena Magdy Mohamed</cp:lastModifiedBy>
  <cp:revision>881</cp:revision>
  <dcterms:created xsi:type="dcterms:W3CDTF">2018-09-02T14:50:52Z</dcterms:created>
  <dcterms:modified xsi:type="dcterms:W3CDTF">2026-01-27T15:48:54Z</dcterms:modified>
</cp:coreProperties>
</file>